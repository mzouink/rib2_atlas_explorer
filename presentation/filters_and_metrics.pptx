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F324D"/>
                </a:solidFill>
              </a:rPr>
              <a:t>RNA Atlas Explorer — Filters &amp; Metrics</a:t>
            </a:r>
          </a:p>
          <a:p>
            <a:r>
              <a:rPr sz="1800" b="0" i="0">
                <a:solidFill>
                  <a:srgbClr val="5B6670"/>
                </a:solidFill>
              </a:rPr>
              <a:t>What each selection criterion means, an example it keeps vs one it drops, and how much of the 7,757-fold curated set each removes.</a:t>
            </a:r>
          </a:p>
          <a:p>
            <a:r>
              <a:rPr sz="1400" b="0" i="0">
                <a:solidFill>
                  <a:srgbClr val="2E6F95"/>
                </a:solidFill>
              </a:rPr>
              <a:t>Live: ddc01lh56i5th.cloudfront.net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Length ≥ 40 nt</a:t>
            </a:r>
          </a:p>
          <a:p>
            <a:r>
              <a:rPr sz="1400" b="0" i="0">
                <a:solidFill>
                  <a:srgbClr val="5B6670"/>
                </a:solidFill>
              </a:rPr>
              <a:t>Short constructs are mostly trivial hairpins; we keep design regions ≥ 40 nt.</a:t>
            </a:r>
          </a:p>
          <a:p>
            <a:r>
              <a:rPr sz="1500" b="1" i="0">
                <a:solidFill>
                  <a:srgbClr val="C0402C"/>
                </a:solidFill>
              </a:rPr>
              <a:t>Drops 6,132 of 7,757 folds  (79.1%)</a:t>
            </a:r>
            <a:r>
              <a:rPr sz="1300" b="0" i="0">
                <a:solidFill>
                  <a:srgbClr val="2E7D32"/>
                </a:solidFill>
              </a:rPr>
              <a:t>   ·   keeps 1,625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E7D32"/>
                </a:solidFill>
              </a:rPr>
              <a:t>KEEP — strong example</a:t>
            </a:r>
          </a:p>
        </p:txBody>
      </p:sp>
      <p:pic>
        <p:nvPicPr>
          <p:cNvPr id="4" name="Picture 3" descr="0771575-ribonanza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2860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</a:rPr>
              <a:t>value: 120</a:t>
            </a:r>
          </a:p>
          <a:p>
            <a:r>
              <a:rPr sz="1050" b="0" i="0">
                <a:solidFill>
                  <a:srgbClr val="1F324D"/>
                </a:solidFill>
              </a:rPr>
              <a:t>0771575-ribonanza2f</a:t>
            </a:r>
          </a:p>
          <a:p>
            <a:r>
              <a:rPr sz="1050" b="0" i="0">
                <a:solidFill>
                  <a:srgbClr val="1F324D"/>
                </a:solidFill>
              </a:rPr>
              <a:t>natural RNA — RNAcentral_130_dedup</a:t>
            </a:r>
          </a:p>
          <a:p>
            <a:r>
              <a:rPr sz="1050" b="0" i="0">
                <a:solidFill>
                  <a:srgbClr val="1F324D"/>
                </a:solidFill>
              </a:rPr>
              <a:t>120 nt · pLDDT 88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0.421</a:t>
            </a:r>
          </a:p>
          <a:p>
            <a:r>
              <a:rPr sz="1050" b="0" i="0">
                <a:solidFill>
                  <a:srgbClr val="1F324D"/>
                </a:solidFill>
              </a:rPr>
              <a:t>nearest 2IHX_B — Solution Structure of the Rous Sarcoma</a:t>
            </a:r>
          </a:p>
          <a:p>
            <a:r>
              <a:rPr sz="1050" b="0" i="0">
                <a:solidFill>
                  <a:srgbClr val="1F324D"/>
                </a:solidFill>
              </a:rPr>
              <a:t>SHAPE agr 0.3973</a:t>
            </a:r>
          </a:p>
          <a:p>
            <a:r>
              <a:rPr sz="1050" b="0" i="0">
                <a:solidFill>
                  <a:srgbClr val="1F324D"/>
                </a:solidFill>
              </a:rPr>
              <a:t>compact 0.7167 · paired 0.6167 · 2 tert</a:t>
            </a:r>
          </a:p>
        </p:txBody>
      </p:sp>
      <p:pic>
        <p:nvPicPr>
          <p:cNvPr id="6" name="Picture 5" descr="0771575-ribonanza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5122431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0402C"/>
                </a:solidFill>
              </a:rPr>
              <a:t>DROP — removed by this filter</a:t>
            </a:r>
          </a:p>
        </p:txBody>
      </p:sp>
      <p:pic>
        <p:nvPicPr>
          <p:cNvPr id="8" name="Picture 7" descr="5355308-ribonanza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2286000" cy="177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402C"/>
                </a:solidFill>
              </a:rPr>
              <a:t>value: 20</a:t>
            </a:r>
          </a:p>
          <a:p>
            <a:r>
              <a:rPr sz="1050" b="0" i="0">
                <a:solidFill>
                  <a:srgbClr val="1F324D"/>
                </a:solidFill>
              </a:rPr>
              <a:t>5355308-ribonanza2e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8FNF_1_m</a:t>
            </a:r>
          </a:p>
          <a:p>
            <a:r>
              <a:rPr sz="1050" b="0" i="0">
                <a:solidFill>
                  <a:srgbClr val="1F324D"/>
                </a:solidFill>
              </a:rPr>
              <a:t>20 nt · pLDDT 97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0.437</a:t>
            </a:r>
          </a:p>
          <a:p>
            <a:r>
              <a:rPr sz="1050" b="0" i="0">
                <a:solidFill>
                  <a:srgbClr val="1F324D"/>
                </a:solidFill>
              </a:rPr>
              <a:t>nearest 6WLH_B — RNA complex of WT1 zinc finger transcr</a:t>
            </a:r>
          </a:p>
          <a:p>
            <a:r>
              <a:rPr sz="1050" b="0" i="0">
                <a:solidFill>
                  <a:srgbClr val="1F324D"/>
                </a:solidFill>
              </a:rPr>
              <a:t>SHAPE agr -0.1144</a:t>
            </a:r>
          </a:p>
          <a:p>
            <a:r>
              <a:rPr sz="1050" b="0" i="0">
                <a:solidFill>
                  <a:srgbClr val="1F324D"/>
                </a:solidFill>
              </a:rPr>
              <a:t>compact 0.4 · paired 0.5 · 1 tert</a:t>
            </a:r>
          </a:p>
        </p:txBody>
      </p:sp>
      <p:pic>
        <p:nvPicPr>
          <p:cNvPr id="10" name="Picture 9" descr="5355308-ribonanza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5486400" cy="22723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pLDDT ≥ 90</a:t>
            </a:r>
          </a:p>
          <a:p>
            <a:r>
              <a:rPr sz="1400" b="0" i="0">
                <a:solidFill>
                  <a:srgbClr val="5B6670"/>
                </a:solidFill>
              </a:rPr>
              <a:t>Model confidence. The pool bar is 85; tightening to 90 keeps the most confident folds.</a:t>
            </a:r>
          </a:p>
          <a:p>
            <a:r>
              <a:rPr sz="1500" b="1" i="0">
                <a:solidFill>
                  <a:srgbClr val="C0402C"/>
                </a:solidFill>
              </a:rPr>
              <a:t>Drops 5,915 of 7,757 folds  (76.3%)</a:t>
            </a:r>
            <a:r>
              <a:rPr sz="1300" b="0" i="0">
                <a:solidFill>
                  <a:srgbClr val="2E7D32"/>
                </a:solidFill>
              </a:rPr>
              <a:t>   ·   keeps 1,842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E7D32"/>
                </a:solidFill>
              </a:rPr>
              <a:t>KEEP — strong example</a:t>
            </a:r>
          </a:p>
        </p:txBody>
      </p:sp>
      <p:pic>
        <p:nvPicPr>
          <p:cNvPr id="4" name="Picture 3" descr="5932026-ribonanza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2860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</a:rPr>
              <a:t>value: 97.763</a:t>
            </a:r>
          </a:p>
          <a:p>
            <a:r>
              <a:rPr sz="1050" b="0" i="0">
                <a:solidFill>
                  <a:srgbClr val="1F324D"/>
                </a:solidFill>
              </a:rPr>
              <a:t>5932026-ribonanza2a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1KD3_1_A-B</a:t>
            </a:r>
          </a:p>
          <a:p>
            <a:r>
              <a:rPr sz="1050" b="0" i="0">
                <a:solidFill>
                  <a:srgbClr val="1F324D"/>
                </a:solidFill>
              </a:rPr>
              <a:t>22 nt · pLDDT 98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0.450</a:t>
            </a:r>
          </a:p>
          <a:p>
            <a:r>
              <a:rPr sz="1050" b="0" i="0">
                <a:solidFill>
                  <a:srgbClr val="1F324D"/>
                </a:solidFill>
              </a:rPr>
              <a:t>nearest 2L3C_B — Solution structure of ADAR2 dsRBM1 bou</a:t>
            </a:r>
          </a:p>
          <a:p>
            <a:r>
              <a:rPr sz="1050" b="0" i="0">
                <a:solidFill>
                  <a:srgbClr val="1F324D"/>
                </a:solidFill>
              </a:rPr>
              <a:t>SHAPE agr -0.3351</a:t>
            </a:r>
          </a:p>
          <a:p>
            <a:r>
              <a:rPr sz="1050" b="0" i="0">
                <a:solidFill>
                  <a:srgbClr val="1F324D"/>
                </a:solidFill>
              </a:rPr>
              <a:t>compact 0.1364 · paired 0.6364 · 0 tert</a:t>
            </a:r>
          </a:p>
        </p:txBody>
      </p:sp>
      <p:pic>
        <p:nvPicPr>
          <p:cNvPr id="6" name="Picture 5" descr="5932026-ribonanza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5486400" cy="2114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0402C"/>
                </a:solidFill>
              </a:rPr>
              <a:t>DROP — removed by this filter</a:t>
            </a:r>
          </a:p>
        </p:txBody>
      </p:sp>
      <p:pic>
        <p:nvPicPr>
          <p:cNvPr id="8" name="Picture 7" descr="1742929-ribonanza2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2286000" cy="177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402C"/>
                </a:solidFill>
              </a:rPr>
              <a:t>value: 85.0</a:t>
            </a:r>
          </a:p>
          <a:p>
            <a:r>
              <a:rPr sz="1050" b="0" i="0">
                <a:solidFill>
                  <a:srgbClr val="1F324D"/>
                </a:solidFill>
              </a:rPr>
              <a:t>1742929-ribonanza2h</a:t>
            </a:r>
          </a:p>
          <a:p>
            <a:r>
              <a:rPr sz="1050" b="0" i="0">
                <a:solidFill>
                  <a:srgbClr val="1F324D"/>
                </a:solidFill>
              </a:rPr>
              <a:t>natural RNA · RNAcentral100</a:t>
            </a:r>
          </a:p>
          <a:p>
            <a:r>
              <a:rPr sz="1050" b="0" i="0">
                <a:solidFill>
                  <a:srgbClr val="1F324D"/>
                </a:solidFill>
              </a:rPr>
              <a:t>28 nt · pLDDT 85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0.373</a:t>
            </a:r>
          </a:p>
          <a:p>
            <a:r>
              <a:rPr sz="1050" b="0" i="0">
                <a:solidFill>
                  <a:srgbClr val="1F324D"/>
                </a:solidFill>
              </a:rPr>
              <a:t>nearest 1M82_A — SOLUTION STRUCTURE OF THE COMPLEMENTAR</a:t>
            </a:r>
          </a:p>
          <a:p>
            <a:r>
              <a:rPr sz="1050" b="0" i="0">
                <a:solidFill>
                  <a:srgbClr val="1F324D"/>
                </a:solidFill>
              </a:rPr>
              <a:t>SHAPE agr 0.2331</a:t>
            </a:r>
          </a:p>
          <a:p>
            <a:r>
              <a:rPr sz="1050" b="0" i="0">
                <a:solidFill>
                  <a:srgbClr val="1F324D"/>
                </a:solidFill>
              </a:rPr>
              <a:t>compact 0.25 · paired 0.5714 · 1 tert</a:t>
            </a:r>
          </a:p>
        </p:txBody>
      </p:sp>
      <p:pic>
        <p:nvPicPr>
          <p:cNvPr id="10" name="Picture 9" descr="1742929-ribonanza2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5486400" cy="22648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Novelty (best_tm1 ≤ 0.40)</a:t>
            </a:r>
          </a:p>
          <a:p>
            <a:r>
              <a:rPr sz="1400" b="0" i="0">
                <a:solidFill>
                  <a:srgbClr val="5B6670"/>
                </a:solidFill>
              </a:rPr>
              <a:t>TM1 to the closest v341 PDB-RNA chain; lower = more novel. ≤ 0.40 = clearly unlike known folds.</a:t>
            </a:r>
          </a:p>
          <a:p>
            <a:r>
              <a:rPr sz="1500" b="1" i="0">
                <a:solidFill>
                  <a:srgbClr val="C0402C"/>
                </a:solidFill>
              </a:rPr>
              <a:t>Drops 4,312 of 7,757 folds  (55.6%)</a:t>
            </a:r>
            <a:r>
              <a:rPr sz="1300" b="0" i="0">
                <a:solidFill>
                  <a:srgbClr val="2E7D32"/>
                </a:solidFill>
              </a:rPr>
              <a:t>   ·   keeps 3,445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E7D32"/>
                </a:solidFill>
              </a:rPr>
              <a:t>KEEP — strong example</a:t>
            </a:r>
          </a:p>
        </p:txBody>
      </p:sp>
      <p:pic>
        <p:nvPicPr>
          <p:cNvPr id="4" name="Picture 3" descr="7214726-ribonanza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2860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</a:rPr>
              <a:t>value: 0.0</a:t>
            </a:r>
          </a:p>
          <a:p>
            <a:r>
              <a:rPr sz="1050" b="0" i="0">
                <a:solidFill>
                  <a:srgbClr val="1F324D"/>
                </a:solidFill>
              </a:rPr>
              <a:t>7214726-ribonanza2d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4PQU_1_T</a:t>
            </a:r>
          </a:p>
          <a:p>
            <a:r>
              <a:rPr sz="1050" b="0" i="0">
                <a:solidFill>
                  <a:srgbClr val="1F324D"/>
                </a:solidFill>
              </a:rPr>
              <a:t>20 nt · pLDDT 92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0.000</a:t>
            </a:r>
          </a:p>
          <a:p>
            <a:r>
              <a:rPr sz="1050" b="0" i="0">
                <a:solidFill>
                  <a:srgbClr val="1F324D"/>
                </a:solidFill>
              </a:rPr>
              <a:t>nearest </a:t>
            </a:r>
          </a:p>
          <a:p>
            <a:r>
              <a:rPr sz="1050" b="0" i="0">
                <a:solidFill>
                  <a:srgbClr val="1F324D"/>
                </a:solidFill>
              </a:rPr>
              <a:t>SHAPE agr 0.5282</a:t>
            </a:r>
          </a:p>
          <a:p>
            <a:r>
              <a:rPr sz="1050" b="0" i="0">
                <a:solidFill>
                  <a:srgbClr val="1F324D"/>
                </a:solidFill>
              </a:rPr>
              <a:t>compact 0.3 · paired 0.3 · 1 tert</a:t>
            </a:r>
          </a:p>
        </p:txBody>
      </p:sp>
      <p:pic>
        <p:nvPicPr>
          <p:cNvPr id="6" name="Picture 5" descr="7214726-ribonanza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5486400" cy="22616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0402C"/>
                </a:solidFill>
              </a:rPr>
              <a:t>DROP — removed by this filter</a:t>
            </a:r>
          </a:p>
        </p:txBody>
      </p:sp>
      <p:pic>
        <p:nvPicPr>
          <p:cNvPr id="8" name="Picture 7" descr="3270371-ribonanza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2286000" cy="177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402C"/>
                </a:solidFill>
              </a:rPr>
              <a:t>value: 0.45</a:t>
            </a:r>
          </a:p>
          <a:p>
            <a:r>
              <a:rPr sz="1050" b="0" i="0">
                <a:solidFill>
                  <a:srgbClr val="1F324D"/>
                </a:solidFill>
              </a:rPr>
              <a:t>3270371-ribonanza2f</a:t>
            </a:r>
          </a:p>
          <a:p>
            <a:r>
              <a:rPr sz="1050" b="0" i="0">
                <a:solidFill>
                  <a:srgbClr val="1F324D"/>
                </a:solidFill>
              </a:rPr>
              <a:t>natural RNA · RNAcentral_130_dedup</a:t>
            </a:r>
          </a:p>
          <a:p>
            <a:r>
              <a:rPr sz="1050" b="0" i="0">
                <a:solidFill>
                  <a:srgbClr val="1F324D"/>
                </a:solidFill>
              </a:rPr>
              <a:t>23 nt · pLDDT 96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0.450</a:t>
            </a:r>
          </a:p>
          <a:p>
            <a:r>
              <a:rPr sz="1050" b="0" i="0">
                <a:solidFill>
                  <a:srgbClr val="1F324D"/>
                </a:solidFill>
              </a:rPr>
              <a:t>nearest 1RFR_A — NMR structure of the 30mer stemloop-D </a:t>
            </a:r>
          </a:p>
          <a:p>
            <a:r>
              <a:rPr sz="1050" b="0" i="0">
                <a:solidFill>
                  <a:srgbClr val="1F324D"/>
                </a:solidFill>
              </a:rPr>
              <a:t>SHAPE agr —</a:t>
            </a:r>
          </a:p>
          <a:p>
            <a:r>
              <a:rPr sz="1050" b="0" i="0">
                <a:solidFill>
                  <a:srgbClr val="1F324D"/>
                </a:solidFill>
              </a:rPr>
              <a:t>compact 0.3913 · paired 0.5217 · 0 tert</a:t>
            </a:r>
          </a:p>
        </p:txBody>
      </p:sp>
      <p:pic>
        <p:nvPicPr>
          <p:cNvPr id="10" name="Picture 9" descr="3270371-ribonanza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5486400" cy="21071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SHAPE-supported</a:t>
            </a:r>
          </a:p>
          <a:p>
            <a:r>
              <a:rPr sz="1400" b="0" i="0">
                <a:solidFill>
                  <a:srgbClr val="5B6670"/>
                </a:solidFill>
              </a:rPr>
              <a:t>Chemical mapping backs the fold: tertiary residues protected, or reactivity agrees with pairing.</a:t>
            </a:r>
          </a:p>
          <a:p>
            <a:r>
              <a:rPr sz="1500" b="1" i="0">
                <a:solidFill>
                  <a:srgbClr val="C0402C"/>
                </a:solidFill>
              </a:rPr>
              <a:t>Drops 3,235 of 7,757 folds  (41.7%)</a:t>
            </a:r>
            <a:r>
              <a:rPr sz="1300" b="0" i="0">
                <a:solidFill>
                  <a:srgbClr val="2E7D32"/>
                </a:solidFill>
              </a:rPr>
              <a:t>   ·   keeps 4,522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E7D32"/>
                </a:solidFill>
              </a:rPr>
              <a:t>KEEP — strong example</a:t>
            </a:r>
          </a:p>
        </p:txBody>
      </p:sp>
      <p:pic>
        <p:nvPicPr>
          <p:cNvPr id="4" name="Picture 3" descr="6900360-ribonanza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2860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</a:rPr>
              <a:t>value: 0.877</a:t>
            </a:r>
          </a:p>
          <a:p>
            <a:r>
              <a:rPr sz="1050" b="0" i="0">
                <a:solidFill>
                  <a:srgbClr val="1F324D"/>
                </a:solidFill>
              </a:rPr>
              <a:t>6900360-ribonanza2e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3CGQ_1_B-A</a:t>
            </a:r>
          </a:p>
          <a:p>
            <a:r>
              <a:rPr sz="1050" b="0" i="0">
                <a:solidFill>
                  <a:srgbClr val="1F324D"/>
                </a:solidFill>
              </a:rPr>
              <a:t>22 nt · pLDDT 92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0.433</a:t>
            </a:r>
          </a:p>
          <a:p>
            <a:r>
              <a:rPr sz="1050" b="0" i="0">
                <a:solidFill>
                  <a:srgbClr val="1F324D"/>
                </a:solidFill>
              </a:rPr>
              <a:t>nearest 2IXY_A — Solution structure of the apical stem-</a:t>
            </a:r>
          </a:p>
          <a:p>
            <a:r>
              <a:rPr sz="1050" b="0" i="0">
                <a:solidFill>
                  <a:srgbClr val="1F324D"/>
                </a:solidFill>
              </a:rPr>
              <a:t>SHAPE agr 0.8773</a:t>
            </a:r>
          </a:p>
          <a:p>
            <a:r>
              <a:rPr sz="1050" b="0" i="0">
                <a:solidFill>
                  <a:srgbClr val="1F324D"/>
                </a:solidFill>
              </a:rPr>
              <a:t>compact 0.0455 · paired 0.7273 · 0 tert</a:t>
            </a:r>
          </a:p>
        </p:txBody>
      </p:sp>
      <p:pic>
        <p:nvPicPr>
          <p:cNvPr id="6" name="Picture 5" descr="6900360-ribonanza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5486400" cy="2114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0402C"/>
                </a:solidFill>
              </a:rPr>
              <a:t>DROP — removed by this filter</a:t>
            </a:r>
          </a:p>
        </p:txBody>
      </p:sp>
      <p:pic>
        <p:nvPicPr>
          <p:cNvPr id="8" name="Picture 7" descr="4584040-ribonanz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2286000" cy="177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402C"/>
                </a:solidFill>
              </a:rPr>
              <a:t>value: -0.563</a:t>
            </a:r>
          </a:p>
          <a:p>
            <a:r>
              <a:rPr sz="1050" b="0" i="0">
                <a:solidFill>
                  <a:srgbClr val="1F324D"/>
                </a:solidFill>
              </a:rPr>
              <a:t>4584040-ribonanza2d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6BJG_1_D</a:t>
            </a:r>
          </a:p>
          <a:p>
            <a:r>
              <a:rPr sz="1050" b="0" i="0">
                <a:solidFill>
                  <a:srgbClr val="1F324D"/>
                </a:solidFill>
              </a:rPr>
              <a:t>21 nt · pLDDT 87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0.295</a:t>
            </a:r>
          </a:p>
          <a:p>
            <a:r>
              <a:rPr sz="1050" b="0" i="0">
                <a:solidFill>
                  <a:srgbClr val="1F324D"/>
                </a:solidFill>
              </a:rPr>
              <a:t>nearest 8QO5_A — Conserved Structures and Dynamics in 5</a:t>
            </a:r>
          </a:p>
          <a:p>
            <a:r>
              <a:rPr sz="1050" b="0" i="0">
                <a:solidFill>
                  <a:srgbClr val="1F324D"/>
                </a:solidFill>
              </a:rPr>
              <a:t>SHAPE agr -0.5632</a:t>
            </a:r>
          </a:p>
          <a:p>
            <a:r>
              <a:rPr sz="1050" b="0" i="0">
                <a:solidFill>
                  <a:srgbClr val="1F324D"/>
                </a:solidFill>
              </a:rPr>
              <a:t>compact 0.1905 · paired 0.6667 · 0 tert</a:t>
            </a:r>
          </a:p>
        </p:txBody>
      </p:sp>
      <p:pic>
        <p:nvPicPr>
          <p:cNvPr id="10" name="Picture 9" descr="4584040-ribonanza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5486400" cy="2114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SHAPE agreement ≥ 0.2</a:t>
            </a:r>
          </a:p>
          <a:p>
            <a:r>
              <a:rPr sz="1400" b="0" i="0">
                <a:solidFill>
                  <a:srgbClr val="5B6670"/>
                </a:solidFill>
              </a:rPr>
              <a:t>Correlation of 2A3 reactivity with unpaired positions; + = mapping supports the predicted fold.</a:t>
            </a:r>
          </a:p>
          <a:p>
            <a:r>
              <a:rPr sz="1500" b="1" i="0">
                <a:solidFill>
                  <a:srgbClr val="C0402C"/>
                </a:solidFill>
              </a:rPr>
              <a:t>Drops 3,654 of 7,757 folds  (47.1%)</a:t>
            </a:r>
            <a:r>
              <a:rPr sz="1300" b="0" i="0">
                <a:solidFill>
                  <a:srgbClr val="2E7D32"/>
                </a:solidFill>
              </a:rPr>
              <a:t>   ·   keeps 4,103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E7D32"/>
                </a:solidFill>
              </a:rPr>
              <a:t>KEEP — strong example</a:t>
            </a:r>
          </a:p>
        </p:txBody>
      </p:sp>
      <p:pic>
        <p:nvPicPr>
          <p:cNvPr id="4" name="Picture 3" descr="6900360-ribonanza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2860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</a:rPr>
              <a:t>value: 0.877</a:t>
            </a:r>
          </a:p>
          <a:p>
            <a:r>
              <a:rPr sz="1050" b="0" i="0">
                <a:solidFill>
                  <a:srgbClr val="1F324D"/>
                </a:solidFill>
              </a:rPr>
              <a:t>6900360-ribonanza2e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3CGQ_1_B-A</a:t>
            </a:r>
          </a:p>
          <a:p>
            <a:r>
              <a:rPr sz="1050" b="0" i="0">
                <a:solidFill>
                  <a:srgbClr val="1F324D"/>
                </a:solidFill>
              </a:rPr>
              <a:t>22 nt · pLDDT 92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0.433</a:t>
            </a:r>
          </a:p>
          <a:p>
            <a:r>
              <a:rPr sz="1050" b="0" i="0">
                <a:solidFill>
                  <a:srgbClr val="1F324D"/>
                </a:solidFill>
              </a:rPr>
              <a:t>nearest 2IXY_A — Solution structure of the apical stem-</a:t>
            </a:r>
          </a:p>
          <a:p>
            <a:r>
              <a:rPr sz="1050" b="0" i="0">
                <a:solidFill>
                  <a:srgbClr val="1F324D"/>
                </a:solidFill>
              </a:rPr>
              <a:t>SHAPE agr 0.8773</a:t>
            </a:r>
          </a:p>
          <a:p>
            <a:r>
              <a:rPr sz="1050" b="0" i="0">
                <a:solidFill>
                  <a:srgbClr val="1F324D"/>
                </a:solidFill>
              </a:rPr>
              <a:t>compact 0.0455 · paired 0.7273 · 0 tert</a:t>
            </a:r>
          </a:p>
        </p:txBody>
      </p:sp>
      <p:pic>
        <p:nvPicPr>
          <p:cNvPr id="6" name="Picture 5" descr="6900360-ribonanza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5486400" cy="2114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0402C"/>
                </a:solidFill>
              </a:rPr>
              <a:t>DROP — removed by this filter</a:t>
            </a:r>
          </a:p>
        </p:txBody>
      </p:sp>
      <p:pic>
        <p:nvPicPr>
          <p:cNvPr id="8" name="Picture 7" descr="1037281-ribonanza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2286000" cy="177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402C"/>
                </a:solidFill>
              </a:rPr>
              <a:t>value: -0.591</a:t>
            </a:r>
          </a:p>
          <a:p>
            <a:r>
              <a:rPr sz="1050" b="0" i="0">
                <a:solidFill>
                  <a:srgbClr val="1F324D"/>
                </a:solidFill>
              </a:rPr>
              <a:t>1037281-ribonanza2f</a:t>
            </a:r>
          </a:p>
          <a:p>
            <a:r>
              <a:rPr sz="1050" b="0" i="0">
                <a:solidFill>
                  <a:srgbClr val="1F324D"/>
                </a:solidFill>
              </a:rPr>
              <a:t>natural RNA · RNAcentral_130_dedup</a:t>
            </a:r>
          </a:p>
          <a:p>
            <a:r>
              <a:rPr sz="1050" b="0" i="0">
                <a:solidFill>
                  <a:srgbClr val="1F324D"/>
                </a:solidFill>
              </a:rPr>
              <a:t>41 nt · pLDDT 92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0.441</a:t>
            </a:r>
          </a:p>
          <a:p>
            <a:r>
              <a:rPr sz="1050" b="0" i="0">
                <a:solidFill>
                  <a:srgbClr val="1F324D"/>
                </a:solidFill>
              </a:rPr>
              <a:t>nearest 1MNX_A — The Solution Structure of the Loop E R</a:t>
            </a:r>
          </a:p>
          <a:p>
            <a:r>
              <a:rPr sz="1050" b="0" i="0">
                <a:solidFill>
                  <a:srgbClr val="1F324D"/>
                </a:solidFill>
              </a:rPr>
              <a:t>SHAPE agr -0.5907</a:t>
            </a:r>
          </a:p>
          <a:p>
            <a:r>
              <a:rPr sz="1050" b="0" i="0">
                <a:solidFill>
                  <a:srgbClr val="1F324D"/>
                </a:solidFill>
              </a:rPr>
              <a:t>compact 0.439 · paired 0.4878 · 1 tert</a:t>
            </a:r>
          </a:p>
        </p:txBody>
      </p:sp>
      <p:pic>
        <p:nvPicPr>
          <p:cNvPr id="10" name="Picture 9" descr="1037281-ribonanza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5122431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Compactness ≥ 0.4</a:t>
            </a:r>
          </a:p>
          <a:p>
            <a:r>
              <a:rPr sz="1400" b="0" i="0">
                <a:solidFill>
                  <a:srgbClr val="5B6670"/>
                </a:solidFill>
              </a:rPr>
              <a:t>C1′ contact ratio (globularity proxy); higher = more compact, extended chains score near 0.</a:t>
            </a:r>
          </a:p>
          <a:p>
            <a:r>
              <a:rPr sz="1500" b="1" i="0">
                <a:solidFill>
                  <a:srgbClr val="C0402C"/>
                </a:solidFill>
              </a:rPr>
              <a:t>Drops 4,308 of 7,757 folds  (55.5%)</a:t>
            </a:r>
            <a:r>
              <a:rPr sz="1300" b="0" i="0">
                <a:solidFill>
                  <a:srgbClr val="2E7D32"/>
                </a:solidFill>
              </a:rPr>
              <a:t>   ·   keeps 3,449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E7D32"/>
                </a:solidFill>
              </a:rPr>
              <a:t>KEEP — strong example</a:t>
            </a:r>
          </a:p>
        </p:txBody>
      </p:sp>
      <p:pic>
        <p:nvPicPr>
          <p:cNvPr id="4" name="Picture 3" descr="6701814-ribonanza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2860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</a:rPr>
              <a:t>value: 0.852</a:t>
            </a:r>
          </a:p>
          <a:p>
            <a:r>
              <a:rPr sz="1050" b="0" i="0">
                <a:solidFill>
                  <a:srgbClr val="1F324D"/>
                </a:solidFill>
              </a:rPr>
              <a:t>6701814-ribonanza2c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3K1V_1_A</a:t>
            </a:r>
          </a:p>
          <a:p>
            <a:r>
              <a:rPr sz="1050" b="0" i="0">
                <a:solidFill>
                  <a:srgbClr val="1F324D"/>
                </a:solidFill>
              </a:rPr>
              <a:t>27 nt · pLDDT 91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0.384</a:t>
            </a:r>
          </a:p>
          <a:p>
            <a:r>
              <a:rPr sz="1050" b="0" i="0">
                <a:solidFill>
                  <a:srgbClr val="1F324D"/>
                </a:solidFill>
              </a:rPr>
              <a:t>nearest 2AP0_A — Solution Structure of the C27A ScYLV P</a:t>
            </a:r>
          </a:p>
          <a:p>
            <a:r>
              <a:rPr sz="1050" b="0" i="0">
                <a:solidFill>
                  <a:srgbClr val="1F324D"/>
                </a:solidFill>
              </a:rPr>
              <a:t>SHAPE agr 0.1612</a:t>
            </a:r>
          </a:p>
          <a:p>
            <a:r>
              <a:rPr sz="1050" b="0" i="0">
                <a:solidFill>
                  <a:srgbClr val="1F324D"/>
                </a:solidFill>
              </a:rPr>
              <a:t>compact 0.8519 · paired 0.4444 · 2 tert</a:t>
            </a:r>
          </a:p>
        </p:txBody>
      </p:sp>
      <p:pic>
        <p:nvPicPr>
          <p:cNvPr id="6" name="Picture 5" descr="6701814-ribonanza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5486400" cy="2434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0402C"/>
                </a:solidFill>
              </a:rPr>
              <a:t>DROP — removed by this filter</a:t>
            </a:r>
          </a:p>
        </p:txBody>
      </p:sp>
      <p:pic>
        <p:nvPicPr>
          <p:cNvPr id="8" name="Picture 7" descr="5963544-ribonanz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2286000" cy="177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402C"/>
                </a:solidFill>
              </a:rPr>
              <a:t>value: 0.0</a:t>
            </a:r>
          </a:p>
          <a:p>
            <a:r>
              <a:rPr sz="1050" b="0" i="0">
                <a:solidFill>
                  <a:srgbClr val="1F324D"/>
                </a:solidFill>
              </a:rPr>
              <a:t>5963544-ribonanza2d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2PJP_1_B</a:t>
            </a:r>
          </a:p>
          <a:p>
            <a:r>
              <a:rPr sz="1050" b="0" i="0">
                <a:solidFill>
                  <a:srgbClr val="1F324D"/>
                </a:solidFill>
              </a:rPr>
              <a:t>23 nt · pLDDT 97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0.436</a:t>
            </a:r>
          </a:p>
          <a:p>
            <a:r>
              <a:rPr sz="1050" b="0" i="0">
                <a:solidFill>
                  <a:srgbClr val="1F324D"/>
                </a:solidFill>
              </a:rPr>
              <a:t>nearest 8QO3_A — Conserved Structures and Dynamics in 5</a:t>
            </a:r>
          </a:p>
          <a:p>
            <a:r>
              <a:rPr sz="1050" b="0" i="0">
                <a:solidFill>
                  <a:srgbClr val="1F324D"/>
                </a:solidFill>
              </a:rPr>
              <a:t>SHAPE agr 0.6095</a:t>
            </a:r>
          </a:p>
          <a:p>
            <a:r>
              <a:rPr sz="1050" b="0" i="0">
                <a:solidFill>
                  <a:srgbClr val="1F324D"/>
                </a:solidFill>
              </a:rPr>
              <a:t>compact 0.0 · paired 0.7826 · 0 tert</a:t>
            </a:r>
          </a:p>
        </p:txBody>
      </p:sp>
      <p:pic>
        <p:nvPicPr>
          <p:cNvPr id="10" name="Picture 9" descr="5963544-ribonanza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5486400" cy="2114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Base-paired ≥ 0.5</a:t>
            </a:r>
          </a:p>
          <a:p>
            <a:r>
              <a:rPr sz="1400" b="0" i="0">
                <a:solidFill>
                  <a:srgbClr val="5B6670"/>
                </a:solidFill>
              </a:rPr>
              <a:t>Fraction of paired positions in the predicted secondary structure; higher = more structured.</a:t>
            </a:r>
          </a:p>
          <a:p>
            <a:r>
              <a:rPr sz="1500" b="1" i="0">
                <a:solidFill>
                  <a:srgbClr val="C0402C"/>
                </a:solidFill>
              </a:rPr>
              <a:t>Drops 2,754 of 7,757 folds  (35.5%)</a:t>
            </a:r>
            <a:r>
              <a:rPr sz="1300" b="0" i="0">
                <a:solidFill>
                  <a:srgbClr val="2E7D32"/>
                </a:solidFill>
              </a:rPr>
              <a:t>   ·   keeps 5,003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E7D32"/>
                </a:solidFill>
              </a:rPr>
              <a:t>KEEP — strong example</a:t>
            </a:r>
          </a:p>
        </p:txBody>
      </p:sp>
      <p:pic>
        <p:nvPicPr>
          <p:cNvPr id="4" name="Picture 3" descr="4427832-ribonanza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2860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</a:rPr>
              <a:t>value: 0.875</a:t>
            </a:r>
          </a:p>
          <a:p>
            <a:r>
              <a:rPr sz="1050" b="0" i="0">
                <a:solidFill>
                  <a:srgbClr val="1F324D"/>
                </a:solidFill>
              </a:rPr>
              <a:t>4427832-ribonanza2d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7KI3_1_F-E</a:t>
            </a:r>
          </a:p>
          <a:p>
            <a:r>
              <a:rPr sz="1050" b="0" i="0">
                <a:solidFill>
                  <a:srgbClr val="1F324D"/>
                </a:solidFill>
              </a:rPr>
              <a:t>32 nt · pLDDT 87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0.428</a:t>
            </a:r>
          </a:p>
          <a:p>
            <a:r>
              <a:rPr sz="1050" b="0" i="0">
                <a:solidFill>
                  <a:srgbClr val="1F324D"/>
                </a:solidFill>
              </a:rPr>
              <a:t>nearest 2L3J_B — The solution structure of the ADAR2 ds</a:t>
            </a:r>
          </a:p>
          <a:p>
            <a:r>
              <a:rPr sz="1050" b="0" i="0">
                <a:solidFill>
                  <a:srgbClr val="1F324D"/>
                </a:solidFill>
              </a:rPr>
              <a:t>SHAPE agr 0.5364</a:t>
            </a:r>
          </a:p>
          <a:p>
            <a:r>
              <a:rPr sz="1050" b="0" i="0">
                <a:solidFill>
                  <a:srgbClr val="1F324D"/>
                </a:solidFill>
              </a:rPr>
              <a:t>compact 0.3125 · paired 0.875 · 0 tert</a:t>
            </a:r>
          </a:p>
        </p:txBody>
      </p:sp>
      <p:pic>
        <p:nvPicPr>
          <p:cNvPr id="6" name="Picture 5" descr="4427832-ribonanza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5486400" cy="2114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0402C"/>
                </a:solidFill>
              </a:rPr>
              <a:t>DROP — removed by this filter</a:t>
            </a:r>
          </a:p>
        </p:txBody>
      </p:sp>
      <p:pic>
        <p:nvPicPr>
          <p:cNvPr id="8" name="Picture 7" descr="3287527-ribonanza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2286000" cy="177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402C"/>
                </a:solidFill>
              </a:rPr>
              <a:t>value: 0.118</a:t>
            </a:r>
          </a:p>
          <a:p>
            <a:r>
              <a:rPr sz="1050" b="0" i="0">
                <a:solidFill>
                  <a:srgbClr val="1F324D"/>
                </a:solidFill>
              </a:rPr>
              <a:t>3287527-ribonanza2b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7UWS_1_H</a:t>
            </a:r>
          </a:p>
          <a:p>
            <a:r>
              <a:rPr sz="1050" b="0" i="0">
                <a:solidFill>
                  <a:srgbClr val="1F324D"/>
                </a:solidFill>
              </a:rPr>
              <a:t>68 nt · pLDDT 85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0.432</a:t>
            </a:r>
          </a:p>
          <a:p>
            <a:r>
              <a:rPr sz="1050" b="0" i="0">
                <a:solidFill>
                  <a:srgbClr val="1F324D"/>
                </a:solidFill>
              </a:rPr>
              <a:t>nearest 6VVJ_A — Cap1G-TPUA</a:t>
            </a:r>
          </a:p>
          <a:p>
            <a:r>
              <a:rPr sz="1050" b="0" i="0">
                <a:solidFill>
                  <a:srgbClr val="1F324D"/>
                </a:solidFill>
              </a:rPr>
              <a:t>SHAPE agr -0.116</a:t>
            </a:r>
          </a:p>
          <a:p>
            <a:r>
              <a:rPr sz="1050" b="0" i="0">
                <a:solidFill>
                  <a:srgbClr val="1F324D"/>
                </a:solidFill>
              </a:rPr>
              <a:t>compact 0.3824 · paired 0.1176 · 2 tert</a:t>
            </a:r>
          </a:p>
        </p:txBody>
      </p:sp>
      <p:pic>
        <p:nvPicPr>
          <p:cNvPr id="10" name="Picture 9" descr="3287527-ribonanza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5486400" cy="23118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≥ 1 tertiary motif</a:t>
            </a:r>
          </a:p>
          <a:p>
            <a:r>
              <a:rPr sz="1400" b="0" i="0">
                <a:solidFill>
                  <a:srgbClr val="5B6670"/>
                </a:solidFill>
              </a:rPr>
              <a:t>Carries a Rosetta tertiary motif (A-minor, TL-receptor, T-loop, …) — a real 3D interaction.</a:t>
            </a:r>
          </a:p>
          <a:p>
            <a:r>
              <a:rPr sz="1500" b="1" i="0">
                <a:solidFill>
                  <a:srgbClr val="C0402C"/>
                </a:solidFill>
              </a:rPr>
              <a:t>Drops 4,251 of 7,757 folds  (54.8%)</a:t>
            </a:r>
            <a:r>
              <a:rPr sz="1300" b="0" i="0">
                <a:solidFill>
                  <a:srgbClr val="2E7D32"/>
                </a:solidFill>
              </a:rPr>
              <a:t>   ·   keeps 3,506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E7D32"/>
                </a:solidFill>
              </a:rPr>
              <a:t>KEEP — strong example</a:t>
            </a:r>
          </a:p>
        </p:txBody>
      </p:sp>
      <p:pic>
        <p:nvPicPr>
          <p:cNvPr id="4" name="Picture 3" descr="2570713-ribonanza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286000" cy="177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</a:rPr>
              <a:t>value: 6</a:t>
            </a:r>
          </a:p>
          <a:p>
            <a:r>
              <a:rPr sz="1050" b="0" i="0">
                <a:solidFill>
                  <a:srgbClr val="1F324D"/>
                </a:solidFill>
              </a:rPr>
              <a:t>2570713-ribonanza2d</a:t>
            </a:r>
          </a:p>
          <a:p>
            <a:r>
              <a:rPr sz="1050" b="0" i="0">
                <a:solidFill>
                  <a:srgbClr val="1F324D"/>
                </a:solidFill>
              </a:rPr>
              <a:t>UW design AK_002872</a:t>
            </a:r>
          </a:p>
          <a:p>
            <a:r>
              <a:rPr sz="1050" b="0" i="0">
                <a:solidFill>
                  <a:srgbClr val="1F324D"/>
                </a:solidFill>
              </a:rPr>
              <a:t>100 nt · pLDDT 85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0.425</a:t>
            </a:r>
          </a:p>
          <a:p>
            <a:r>
              <a:rPr sz="1050" b="0" i="0">
                <a:solidFill>
                  <a:srgbClr val="1F324D"/>
                </a:solidFill>
              </a:rPr>
              <a:t>nearest 6VVJ_A — Cap1G-TPUA</a:t>
            </a:r>
          </a:p>
          <a:p>
            <a:r>
              <a:rPr sz="1050" b="0" i="0">
                <a:solidFill>
                  <a:srgbClr val="1F324D"/>
                </a:solidFill>
              </a:rPr>
              <a:t>SHAPE agr 0.473</a:t>
            </a:r>
          </a:p>
          <a:p>
            <a:r>
              <a:rPr sz="1050" b="0" i="0">
                <a:solidFill>
                  <a:srgbClr val="1F324D"/>
                </a:solidFill>
              </a:rPr>
              <a:t>compact 0.57 · paired 0.52 · 6 tert</a:t>
            </a:r>
          </a:p>
        </p:txBody>
      </p:sp>
      <p:pic>
        <p:nvPicPr>
          <p:cNvPr id="6" name="Picture 5" descr="2570713-ribonanza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4386601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C0402C"/>
                </a:solidFill>
              </a:rPr>
              <a:t>DROP — removed by this filter</a:t>
            </a:r>
          </a:p>
        </p:txBody>
      </p:sp>
      <p:pic>
        <p:nvPicPr>
          <p:cNvPr id="8" name="Picture 7" descr="5932026-ribonanza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2286000" cy="177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1691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0402C"/>
                </a:solidFill>
              </a:rPr>
              <a:t>value: 0</a:t>
            </a:r>
          </a:p>
          <a:p>
            <a:r>
              <a:rPr sz="1050" b="0" i="0">
                <a:solidFill>
                  <a:srgbClr val="1F324D"/>
                </a:solidFill>
              </a:rPr>
              <a:t>5932026-ribonanza2a</a:t>
            </a:r>
          </a:p>
          <a:p>
            <a:r>
              <a:rPr sz="1050" b="0" i="0">
                <a:solidFill>
                  <a:srgbClr val="1F324D"/>
                </a:solidFill>
              </a:rPr>
              <a:t>gRNAde design — target PDB 1KD3_1_A-B</a:t>
            </a:r>
          </a:p>
          <a:p>
            <a:r>
              <a:rPr sz="1050" b="0" i="0">
                <a:solidFill>
                  <a:srgbClr val="1F324D"/>
                </a:solidFill>
              </a:rPr>
              <a:t>22 nt · pLDDT 98</a:t>
            </a:r>
          </a:p>
          <a:p>
            <a:r>
              <a:rPr sz="1050" b="0" i="0">
                <a:solidFill>
                  <a:srgbClr val="1F324D"/>
                </a:solidFill>
              </a:rPr>
              <a:t>novelty TM1 0.450</a:t>
            </a:r>
          </a:p>
          <a:p>
            <a:r>
              <a:rPr sz="1050" b="0" i="0">
                <a:solidFill>
                  <a:srgbClr val="1F324D"/>
                </a:solidFill>
              </a:rPr>
              <a:t>nearest 2L3C_B — Solution structure of ADAR2 dsRBM1 bou</a:t>
            </a:r>
          </a:p>
          <a:p>
            <a:r>
              <a:rPr sz="1050" b="0" i="0">
                <a:solidFill>
                  <a:srgbClr val="1F324D"/>
                </a:solidFill>
              </a:rPr>
              <a:t>SHAPE agr -0.3351</a:t>
            </a:r>
          </a:p>
          <a:p>
            <a:r>
              <a:rPr sz="1050" b="0" i="0">
                <a:solidFill>
                  <a:srgbClr val="1F324D"/>
                </a:solidFill>
              </a:rPr>
              <a:t>compact 0.1364 · paired 0.6364 · 0 tert</a:t>
            </a:r>
          </a:p>
        </p:txBody>
      </p:sp>
      <p:pic>
        <p:nvPicPr>
          <p:cNvPr id="10" name="Picture 9" descr="5932026-ribonanza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5486400" cy="21141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324D"/>
                </a:solidFill>
              </a:rPr>
              <a:t>Filter combinations — what survives</a:t>
            </a:r>
          </a:p>
        </p:txBody>
      </p:sp>
      <p:pic>
        <p:nvPicPr>
          <p:cNvPr id="3" name="Picture 2" descr="comb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5427846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188720"/>
            <a:ext cx="4297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324D"/>
                </a:solidFill>
              </a:rPr>
              <a:t>How to read</a:t>
            </a:r>
          </a:p>
          <a:p>
            <a:r>
              <a:rPr sz="1250" b="0" i="0">
                <a:solidFill>
                  <a:srgbClr val="5B6670"/>
                </a:solidFill>
              </a:rPr>
              <a:t>• Each row = one on/off combination of the 6 core filters (✓ = applied).</a:t>
            </a:r>
          </a:p>
          <a:p>
            <a:r>
              <a:rPr sz="1250" b="0" i="0">
                <a:solidFill>
                  <a:srgbClr val="5B6670"/>
                </a:solidFill>
              </a:rPr>
              <a:t>• All 64 combinations; top row = no filters (all 7,757).</a:t>
            </a:r>
          </a:p>
          <a:p>
            <a:r>
              <a:rPr sz="1250" b="0" i="0">
                <a:solidFill>
                  <a:srgbClr val="5B6670"/>
                </a:solidFill>
              </a:rPr>
              <a:t>• “% left” / “# left” = folds passing every applied filter (AND).</a:t>
            </a:r>
          </a:p>
          <a:p>
            <a:r>
              <a:rPr sz="1250" b="0" i="0">
                <a:solidFill>
                  <a:srgbClr val="5B6670"/>
                </a:solidFill>
              </a:rPr>
              <a:t>• Sorted by # kept — tightest combinations at the bottom.</a:t>
            </a:r>
          </a:p>
          <a:p>
            <a:r>
              <a:rPr sz="1250" b="0" i="0">
                <a:solidFill>
                  <a:srgbClr val="5B6670"/>
                </a:solidFill>
              </a:rPr>
              <a:t>• Filters overlap, so stacking them removes less than the sum of each alone.</a:t>
            </a:r>
          </a:p>
          <a:p>
            <a:r>
              <a:rPr sz="1250" b="0" i="0">
                <a:solidFill>
                  <a:srgbClr val="5B6670"/>
                </a:solidFill>
              </a:rPr>
              <a:t>• Full table (incl. all 8 filters): combinations.csv.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F324D"/>
                </a:solidFill>
              </a:rPr>
              <a:t>Scaling to the full predicted atlas — cost &amp;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B6670"/>
                </a:solidFill>
              </a:rPr>
              <a:t>Everything here is computed for the 7,757 curated folds. Running the same pipeline atlas-wide is gated by one step.</a:t>
            </a:r>
          </a:p>
        </p:txBody>
      </p:sp>
      <p:pic>
        <p:nvPicPr>
          <p:cNvPr id="4" name="Picture 3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7680960" cy="4102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554480"/>
            <a:ext cx="3566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C0402C"/>
                </a:solidFill>
              </a:rPr>
              <a:t>Bottleneck</a:t>
            </a:r>
          </a:p>
          <a:p>
            <a:r>
              <a:rPr sz="1250" b="0" i="0">
                <a:solidFill>
                  <a:srgbClr val="1F324D"/>
                </a:solidFill>
              </a:rPr>
              <a:t>USalign novelty: ~0.5–3 min/fold. Every other step is seconds or sub-second.</a:t>
            </a:r>
          </a:p>
          <a:p>
            <a:r>
              <a:rPr sz="1500" b="1" i="0">
                <a:solidFill>
                  <a:srgbClr val="2E7D32"/>
                </a:solidFill>
              </a:rPr>
              <a:t>Feasible</a:t>
            </a:r>
          </a:p>
          <a:p>
            <a:r>
              <a:rPr sz="1250" b="0" i="0">
                <a:solidFill>
                  <a:srgbClr val="1F324D"/>
                </a:solidFill>
              </a:rPr>
              <a:t>414k high-confidence set: ~1–2 days on a ~200-slot LSF array.</a:t>
            </a:r>
          </a:p>
          <a:p>
            <a:r>
              <a:rPr sz="1500" b="1" i="0">
                <a:solidFill>
                  <a:srgbClr val="C0402C"/>
                </a:solidFill>
              </a:rPr>
              <a:t>Impractical</a:t>
            </a:r>
          </a:p>
          <a:p>
            <a:r>
              <a:rPr sz="1250" b="0" i="0">
                <a:solidFill>
                  <a:srgbClr val="1F324D"/>
                </a:solidFill>
              </a:rPr>
              <a:t>Full ~23M atlas: novelty alone is ~2–3 months on a 200-slot array — and most are low-confidence. Even the cheap steps become week-scale.</a:t>
            </a:r>
          </a:p>
          <a:p>
            <a:r>
              <a:rPr sz="1500" b="1" i="0">
                <a:solidFill>
                  <a:srgbClr val="1F324D"/>
                </a:solidFill>
              </a:rPr>
              <a:t>Recommended</a:t>
            </a:r>
          </a:p>
          <a:p>
            <a:r>
              <a:rPr sz="1250" b="0" i="0">
                <a:solidFill>
                  <a:srgbClr val="1F324D"/>
                </a:solidFill>
              </a:rPr>
              <a:t>Run the full pipeline over the 414k strict index; skip novelty on the low-confidence rest (or throw far more slots at it).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Target selection collapses on size</a:t>
            </a:r>
          </a:p>
        </p:txBody>
      </p:sp>
      <p:pic>
        <p:nvPicPr>
          <p:cNvPr id="3" name="Picture 2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675120" cy="3337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097280"/>
            <a:ext cx="4480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324D"/>
                </a:solidFill>
              </a:rPr>
              <a:t>The hard reality</a:t>
            </a:r>
          </a:p>
          <a:p>
            <a:r>
              <a:rPr sz="1300" b="0" i="0">
                <a:solidFill>
                  <a:srgbClr val="5B6670"/>
                </a:solidFill>
              </a:rPr>
              <a:t>• Un-assisted single-particle cryo-EM of RNA wants ~150+ nt (~50 kDa).</a:t>
            </a:r>
          </a:p>
          <a:p>
            <a:r>
              <a:rPr sz="1300" b="0" i="0">
                <a:solidFill>
                  <a:srgbClr val="5B6670"/>
                </a:solidFill>
              </a:rPr>
              <a:t>• Ribonanza-2 design regions cap ~130 nt — so every candidate is small for cryo-EM.</a:t>
            </a:r>
          </a:p>
          <a:p>
            <a:r>
              <a:rPr sz="1300" b="0" i="0">
                <a:solidFill>
                  <a:srgbClr val="5B6670"/>
                </a:solidFill>
              </a:rPr>
              <a:t>• Of 7,757 novel folds, only 154 are ≥100 nt and just 1 clears the full quality gate.</a:t>
            </a:r>
          </a:p>
          <a:p>
            <a:r>
              <a:rPr sz="1400" b="1" i="0">
                <a:solidFill>
                  <a:srgbClr val="C0402C"/>
                </a:solidFill>
              </a:rPr>
              <a:t>→ The decision that sets the list:</a:t>
            </a:r>
          </a:p>
          <a:p>
            <a:r>
              <a:rPr sz="1300" b="0" i="0">
                <a:solidFill>
                  <a:srgbClr val="1F324D"/>
                </a:solidFill>
              </a:rPr>
              <a:t>• Accept Fab/scaffold-assisted cryo-EM? If yes → hundreds of small but striking folds open up.</a:t>
            </a:r>
          </a:p>
          <a:p>
            <a:r>
              <a:rPr sz="1300" b="0" i="0">
                <a:solidFill>
                  <a:srgbClr val="1F324D"/>
                </a:solidFill>
              </a:rPr>
              <a:t>• If no → we’re limited to the ~12 largest, fully de-risked folds.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324D"/>
                </a:solidFill>
              </a:rPr>
              <a:t>Proposed list — two routes (rank, then curate together)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D32"/>
                </a:solidFill>
              </a:rPr>
              <a:t>Route A · Largest, fully de-risked  (12)</a:t>
            </a:r>
          </a:p>
          <a:p>
            <a:r>
              <a:rPr sz="1100" b="0" i="0">
                <a:solidFill>
                  <a:srgbClr val="1F324D"/>
                </a:solidFill>
              </a:rPr>
              <a:t>len ≥ 80 · pLDDT ≥ 88 · SHAPE-supported · compact ≥ 0.5 · novel (TM1 ≤ 0.40) · ≥1 tertiary</a:t>
            </a:r>
          </a:p>
          <a:p>
            <a:r>
              <a:rPr sz="1000" b="0" i="1">
                <a:solidFill>
                  <a:srgbClr val="5B6670"/>
                </a:solidFill>
              </a:rPr>
              <a:t>Best shot at a usable map with least scaffolding; mostly RNAMake assemblies ~90–100 nt.</a:t>
            </a:r>
          </a:p>
        </p:txBody>
      </p:sp>
      <p:pic>
        <p:nvPicPr>
          <p:cNvPr id="4" name="Picture 3" descr="4146783-ribonanza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83080"/>
            <a:ext cx="1554480" cy="1209040"/>
          </a:xfrm>
          <a:prstGeom prst="rect">
            <a:avLst/>
          </a:prstGeom>
        </p:spPr>
      </p:pic>
      <p:pic>
        <p:nvPicPr>
          <p:cNvPr id="5" name="Picture 4" descr="4146783-ribonanza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783080"/>
            <a:ext cx="1417320" cy="8754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92608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F324D"/>
                </a:solidFill>
              </a:rPr>
              <a:t>4146783-ribonanza2e · 100 nt</a:t>
            </a:r>
          </a:p>
          <a:p>
            <a:r>
              <a:rPr sz="950" b="0" i="0">
                <a:solidFill>
                  <a:srgbClr val="5B6670"/>
                </a:solidFill>
              </a:rPr>
              <a:t>RNAMake assembly (from 4WT8, 6TH6)</a:t>
            </a:r>
          </a:p>
          <a:p>
            <a:r>
              <a:rPr sz="950" b="0" i="0">
                <a:solidFill>
                  <a:srgbClr val="5B6670"/>
                </a:solidFill>
              </a:rPr>
              <a:t>tm 0.40 · agr 0.5321 · comp 0.62 · 3t</a:t>
            </a:r>
          </a:p>
        </p:txBody>
      </p:sp>
      <p:pic>
        <p:nvPicPr>
          <p:cNvPr id="7" name="Picture 6" descr="7979215-ribonanz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783080"/>
            <a:ext cx="1554480" cy="1209040"/>
          </a:xfrm>
          <a:prstGeom prst="rect">
            <a:avLst/>
          </a:prstGeom>
        </p:spPr>
      </p:pic>
      <p:pic>
        <p:nvPicPr>
          <p:cNvPr id="8" name="Picture 7" descr="7979215-ribonanza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783080"/>
            <a:ext cx="1417320" cy="8259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91840" y="292608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F324D"/>
                </a:solidFill>
              </a:rPr>
              <a:t>7979215-ribonanza2d · 95 nt</a:t>
            </a:r>
          </a:p>
          <a:p>
            <a:r>
              <a:rPr sz="950" b="0" i="0">
                <a:solidFill>
                  <a:srgbClr val="5B6670"/>
                </a:solidFill>
              </a:rPr>
              <a:t>RNAMake assembly (from 1NJP, 5J7L)</a:t>
            </a:r>
          </a:p>
          <a:p>
            <a:r>
              <a:rPr sz="950" b="0" i="0">
                <a:solidFill>
                  <a:srgbClr val="5B6670"/>
                </a:solidFill>
              </a:rPr>
              <a:t>tm 0.40 · agr 0.5029 · comp 0.6632 · 3t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86868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A4C93"/>
                </a:solidFill>
              </a:rPr>
              <a:t>Route B · Most striking architecture  (103)</a:t>
            </a:r>
          </a:p>
          <a:p>
            <a:r>
              <a:rPr sz="1100" b="0" i="0">
                <a:solidFill>
                  <a:srgbClr val="1F324D"/>
                </a:solidFill>
              </a:rPr>
              <a:t>novel · SHAPE-supported · pseudoknot · rare tertiary motif</a:t>
            </a:r>
          </a:p>
          <a:p>
            <a:r>
              <a:rPr sz="1000" b="0" i="1">
                <a:solidFill>
                  <a:srgbClr val="5B6670"/>
                </a:solidFill>
              </a:rPr>
              <a:t>Smaller → cryo-EM needs a chaperone/scaffold, but high scientific interest.</a:t>
            </a:r>
          </a:p>
        </p:txBody>
      </p:sp>
      <p:pic>
        <p:nvPicPr>
          <p:cNvPr id="11" name="Picture 10" descr="3066731-ribonanza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1783080"/>
            <a:ext cx="1554480" cy="1209040"/>
          </a:xfrm>
          <a:prstGeom prst="rect">
            <a:avLst/>
          </a:prstGeom>
        </p:spPr>
      </p:pic>
      <p:pic>
        <p:nvPicPr>
          <p:cNvPr id="12" name="Picture 11" descr="3066731-ribonanza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783080"/>
            <a:ext cx="1417320" cy="8029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292608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F324D"/>
                </a:solidFill>
              </a:rPr>
              <a:t>3066731-ribonanza2d · 100 nt</a:t>
            </a:r>
          </a:p>
          <a:p>
            <a:r>
              <a:rPr sz="950" b="0" i="0">
                <a:solidFill>
                  <a:srgbClr val="5B6670"/>
                </a:solidFill>
              </a:rPr>
              <a:t>UW design AK_002812_2098945_003</a:t>
            </a:r>
          </a:p>
          <a:p>
            <a:r>
              <a:rPr sz="950" b="0" i="0">
                <a:solidFill>
                  <a:srgbClr val="5B6670"/>
                </a:solidFill>
              </a:rPr>
              <a:t>tm 0.38 · agr 0.3637 · comp 0.59 · 4t · PK</a:t>
            </a:r>
          </a:p>
        </p:txBody>
      </p:sp>
      <p:pic>
        <p:nvPicPr>
          <p:cNvPr id="14" name="Picture 13" descr="7803325-ribonanza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1783080"/>
            <a:ext cx="1554480" cy="1209040"/>
          </a:xfrm>
          <a:prstGeom prst="rect">
            <a:avLst/>
          </a:prstGeom>
        </p:spPr>
      </p:pic>
      <p:pic>
        <p:nvPicPr>
          <p:cNvPr id="15" name="Picture 14" descr="7803325-ribonanza2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61320" y="1783080"/>
            <a:ext cx="1417320" cy="7195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0" y="292608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rgbClr val="1F324D"/>
                </a:solidFill>
              </a:rPr>
              <a:t>7803325-ribonanza2c · 73 nt</a:t>
            </a:r>
          </a:p>
          <a:p>
            <a:r>
              <a:rPr sz="950" b="0" i="0">
                <a:solidFill>
                  <a:srgbClr val="5B6670"/>
                </a:solidFill>
              </a:rPr>
              <a:t>RNAMake assembly (from 5ZEB, 6ZJ3)</a:t>
            </a:r>
          </a:p>
          <a:p>
            <a:r>
              <a:rPr sz="950" b="0" i="0">
                <a:solidFill>
                  <a:srgbClr val="5B6670"/>
                </a:solidFill>
              </a:rPr>
              <a:t>tm 0.37 · agr 0.5992 · comp 0.6027 · 2t · PK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1605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2E7D32"/>
                </a:solidFill>
              </a:rPr>
              <a:t>More Route A candidates:</a:t>
            </a:r>
          </a:p>
          <a:p>
            <a:r>
              <a:rPr sz="1100" b="1" i="0">
                <a:solidFill>
                  <a:srgbClr val="1F324D"/>
                </a:solidFill>
              </a:rPr>
              <a:t>0900292-ribonanza2d  </a:t>
            </a:r>
            <a:r>
              <a:rPr sz="1050" b="0" i="0">
                <a:solidFill>
                  <a:srgbClr val="5B6670"/>
                </a:solidFill>
              </a:rPr>
              <a:t>95 nt · RNAMake assembly (from 5MMM, 6ZVI)  ·  tm 0.39 · agr 0.4749 · comp 0.5789 · 2t</a:t>
            </a:r>
          </a:p>
          <a:p>
            <a:r>
              <a:rPr sz="1100" b="1" i="0">
                <a:solidFill>
                  <a:srgbClr val="1F324D"/>
                </a:solidFill>
              </a:rPr>
              <a:t>5868329-ribonanza2d  </a:t>
            </a:r>
            <a:r>
              <a:rPr sz="1050" b="0" i="0">
                <a:solidFill>
                  <a:srgbClr val="5B6670"/>
                </a:solidFill>
              </a:rPr>
              <a:t>94 nt · RNAMake assembly (from 5E81, 7ST2)  ·  tm 0.38 · agr 0.4766 · comp 0.5319 · 1t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A4C93"/>
                </a:solidFill>
              </a:rPr>
              <a:t>More Route B candidates:</a:t>
            </a:r>
          </a:p>
          <a:p>
            <a:r>
              <a:rPr sz="1100" b="1" i="0">
                <a:solidFill>
                  <a:srgbClr val="1F324D"/>
                </a:solidFill>
              </a:rPr>
              <a:t>4286710-ribonanza2c  </a:t>
            </a:r>
            <a:r>
              <a:rPr sz="1050" b="0" i="0">
                <a:solidFill>
                  <a:srgbClr val="5B6670"/>
                </a:solidFill>
              </a:rPr>
              <a:t>24 nt · gRNAde design — target PDB 6W62_1_B  ·  tm 0.40 · agr 0.4968 · comp 0.4167 · 3t · PK</a:t>
            </a:r>
          </a:p>
          <a:p>
            <a:r>
              <a:rPr sz="1100" b="1" i="0">
                <a:solidFill>
                  <a:srgbClr val="1F324D"/>
                </a:solidFill>
              </a:rPr>
              <a:t>5993836-ribonanza2e  </a:t>
            </a:r>
            <a:r>
              <a:rPr sz="1050" b="0" i="0">
                <a:solidFill>
                  <a:srgbClr val="5B6670"/>
                </a:solidFill>
              </a:rPr>
              <a:t>72 nt · RNAMake assembly (from 6JXM, 6YW5)  ·  tm 0.38 · agr 0.4076 · comp 0.6667 · 2t · PK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3093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B6670"/>
                </a:solidFill>
              </a:rPr>
              <a:t>3D colored by 2A3 reactivity (blue protected→red reactive) + motif sticks; tracks = sequence · DMS · 2A3 · motifs.  Mostly synthetic designs — large+SHAPE+novel natural pool is near-empty. Pull ~5–8/route → ~10–15 portfolio.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F324D"/>
                </a:solidFill>
              </a:rPr>
              <a:t>What de-risks a cryo-EM slot — and the axis we’re missing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B6670"/>
                </a:solidFill>
              </a:rPr>
              <a:t>cryo-EM is expensive — each metric buys a piece of confidence before we commit:</a:t>
            </a:r>
          </a:p>
          <a:p>
            <a:r>
              <a:rPr sz="1350" b="1" i="0">
                <a:solidFill>
                  <a:srgbClr val="1F324D"/>
                </a:solidFill>
              </a:rPr>
              <a:t>• Model says it folds — </a:t>
            </a:r>
            <a:r>
              <a:rPr sz="1300" b="0" i="0">
                <a:solidFill>
                  <a:srgbClr val="34404D"/>
                </a:solidFill>
              </a:rPr>
              <a:t>pLDDT + gPDE.</a:t>
            </a:r>
          </a:p>
          <a:p>
            <a:r>
              <a:rPr sz="1350" b="1" i="0">
                <a:solidFill>
                  <a:srgbClr val="1F324D"/>
                </a:solidFill>
              </a:rPr>
              <a:t>• Experiment says it folds (orthogonal!) — </a:t>
            </a:r>
            <a:r>
              <a:rPr sz="1300" b="0" i="0">
                <a:solidFill>
                  <a:srgbClr val="34404D"/>
                </a:solidFill>
              </a:rPr>
              <a:t>SHAPE agreement — guards against a confidently-wrong model.</a:t>
            </a:r>
          </a:p>
          <a:p>
            <a:r>
              <a:rPr sz="1350" b="1" i="0">
                <a:solidFill>
                  <a:srgbClr val="1F324D"/>
                </a:solidFill>
              </a:rPr>
              <a:t>• It’s a compact single particle — </a:t>
            </a:r>
            <a:r>
              <a:rPr sz="1300" b="0" i="0">
                <a:solidFill>
                  <a:srgbClr val="34404D"/>
                </a:solidFill>
              </a:rPr>
              <a:t>compactness (C1′ contact ratio) + base-paired fraction.</a:t>
            </a:r>
          </a:p>
          <a:p>
            <a:r>
              <a:rPr sz="1350" b="1" i="0">
                <a:solidFill>
                  <a:srgbClr val="1F324D"/>
                </a:solidFill>
              </a:rPr>
              <a:t>• It’s worth solving — </a:t>
            </a:r>
            <a:r>
              <a:rPr sz="1300" b="0" i="0">
                <a:solidFill>
                  <a:srgbClr val="34404D"/>
                </a:solidFill>
              </a:rPr>
              <a:t>novelty vs the PDB + the nearest-entry title as a sanity check.</a:t>
            </a:r>
          </a:p>
          <a:p>
            <a:r>
              <a:rPr sz="1350" b="1" i="0">
                <a:solidFill>
                  <a:srgbClr val="1F324D"/>
                </a:solidFill>
              </a:rPr>
              <a:t>• It’s interesting — </a:t>
            </a:r>
            <a:r>
              <a:rPr sz="1300" b="0" i="0">
                <a:solidFill>
                  <a:srgbClr val="34404D"/>
                </a:solidFill>
              </a:rPr>
              <a:t>tertiary motifs, pseudoknots.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0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C0402C"/>
                </a:solidFill>
              </a:rPr>
              <a:t>The axis we don’t yet measure: rigidity / single dominant conformation</a:t>
            </a:r>
          </a:p>
          <a:p>
            <a:r>
              <a:rPr sz="1300" b="0" i="0">
                <a:solidFill>
                  <a:srgbClr val="1F324D"/>
                </a:solidFill>
              </a:rPr>
              <a:t>A floppy, multi-conformer RNA gives no usable map regardless of how it scores above. We have one prediction per fold, so we can’t see conformational spread.</a:t>
            </a:r>
          </a:p>
          <a:p>
            <a:r>
              <a:rPr sz="1300" b="0" i="0">
                <a:solidFill>
                  <a:srgbClr val="1F324D"/>
                </a:solidFill>
              </a:rPr>
              <a:t>Proposal: before committing, re-predict each shortlisted fold with N seeds and keep the low inter-seed-RMSD (single rigid fold) ones — cheap for a ~10–30 shortlist.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F324D"/>
                </a:solidFill>
              </a:rPr>
              <a:t>Open questions for the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 i="0">
                <a:solidFill>
                  <a:srgbClr val="2E6F95"/>
                </a:solidFill>
              </a:rPr>
              <a:t>1.  </a:t>
            </a:r>
            <a:r>
              <a:rPr sz="1500" b="0" i="0">
                <a:solidFill>
                  <a:srgbClr val="1F324D"/>
                </a:solidFill>
              </a:rPr>
              <a:t>What size can the cryo-EM team realistically attempt — and are they open to Fab / scaffold assistance for &lt; ~150 nt?</a:t>
            </a:r>
          </a:p>
          <a:p>
            <a:r>
              <a:rPr sz="1600" b="1" i="0">
                <a:solidFill>
                  <a:srgbClr val="2E6F95"/>
                </a:solidFill>
              </a:rPr>
              <a:t>2.  </a:t>
            </a:r>
            <a:r>
              <a:rPr sz="1500" b="0" i="0">
                <a:solidFill>
                  <a:srgbClr val="1F324D"/>
                </a:solidFill>
              </a:rPr>
              <a:t>RNA-only targets, or RNA–protein complexes?</a:t>
            </a:r>
          </a:p>
          <a:p>
            <a:r>
              <a:rPr sz="1600" b="1" i="0">
                <a:solidFill>
                  <a:srgbClr val="2E6F95"/>
                </a:solidFill>
              </a:rPr>
              <a:t>3.  </a:t>
            </a:r>
            <a:r>
              <a:rPr sz="1500" b="0" i="0">
                <a:solidFill>
                  <a:srgbClr val="1F324D"/>
                </a:solidFill>
              </a:rPr>
              <a:t>Natural (F–H, more reliably folded) vs synthetic (A–E, more novel) — and what mix?</a:t>
            </a:r>
          </a:p>
          <a:p>
            <a:r>
              <a:rPr sz="1600" b="1" i="0">
                <a:solidFill>
                  <a:srgbClr val="2E6F95"/>
                </a:solidFill>
              </a:rPr>
              <a:t>4.  </a:t>
            </a:r>
            <a:r>
              <a:rPr sz="1500" b="0" i="0">
                <a:solidFill>
                  <a:srgbClr val="1F324D"/>
                </a:solidFill>
              </a:rPr>
              <a:t>Hard-require experimental SHAPE support, or allow model-only candidates?</a:t>
            </a:r>
          </a:p>
          <a:p>
            <a:r>
              <a:rPr sz="1600" b="1" i="0">
                <a:solidFill>
                  <a:srgbClr val="2E6F95"/>
                </a:solidFill>
              </a:rPr>
              <a:t>5.  </a:t>
            </a:r>
            <a:r>
              <a:rPr sz="1500" b="0" i="0">
                <a:solidFill>
                  <a:srgbClr val="1F324D"/>
                </a:solidFill>
              </a:rPr>
              <a:t>How many targets are we scoping — ~5 hero targets, or a ~20–30 shortlist?</a:t>
            </a:r>
          </a:p>
          <a:p>
            <a:r>
              <a:rPr sz="800" b="0" i="0">
                <a:solidFill>
                  <a:srgbClr val="1F324D"/>
                </a:solidFill>
              </a:rPr>
              <a:t> </a:t>
            </a:r>
          </a:p>
          <a:p>
            <a:r>
              <a:rPr sz="1300" b="0" i="1">
                <a:solidFill>
                  <a:srgbClr val="5B6670"/>
                </a:solidFill>
              </a:rPr>
              <a:t>Proposal: bring the explorer to the meeting, tune thresholds live, and walk the top of the ranked list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